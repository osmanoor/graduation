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— Title — 15s</a:t>
            </a:r>
          </a:p>
          <a:p/>
          <a:p>
            <a:r>
              <a:t>السلام عليكم ورحمة الله وبركاته. حضورنا الكرام، الدكاترة الأعزاء.</a:t>
            </a:r>
          </a:p>
          <a:p/>
          <a:p>
            <a:r>
              <a:t>أنا محمد الحاج، ومعاي زميلي عثمان بشير. أطروحتنا اليوم بعنوان:</a:t>
            </a:r>
          </a:p>
          <a:p>
            <a:r>
              <a:t>Improving Arabic RAG Retrieval Quality with LLM-based Query Enhancement</a:t>
            </a:r>
          </a:p>
          <a:p>
            <a:r>
              <a:t>— بإشراف الدكتورة تهاني عبدالله.</a:t>
            </a:r>
          </a:p>
          <a:p/>
          <a:p>
            <a:r>
              <a:t>— DELIVERY —</a:t>
            </a:r>
          </a:p>
          <a:p>
            <a:r>
              <a:t>Say the title in English, as printed. Previously the script gave an Arabic rendering while the</a:t>
            </a:r>
          </a:p>
          <a:p>
            <a:r>
              <a:t>slide showed English — you would have been reading one thing with another on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— Agenda — 12s</a:t>
            </a:r>
          </a:p>
          <a:p/>
          <a:p>
            <a:r>
              <a:t>ودي محاور العرض: نبدأ بالـ introduction، بعدها المشكلة والسؤال البحثي، ثم الأهداف،</a:t>
            </a:r>
          </a:p>
          <a:p>
            <a:r>
              <a:t>بعدها الـ methodology والشغل اللي عملناه، ثم النتائج والمناقشة، ونختم بالـ **conclusion</a:t>
            </a:r>
          </a:p>
          <a:p>
            <a:r>
              <a:t>والعمل المستقبلي**.</a:t>
            </a:r>
          </a:p>
          <a:p/>
          <a:p>
            <a:r>
              <a:t>— DELIVERY —</a:t>
            </a:r>
          </a:p>
          <a:p>
            <a:r>
              <a:t>Six items, one breath. Do not elaborate on any of them — you are about to explain all six.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— LLMs and their limitation — 30s</a:t>
            </a:r>
          </a:p>
          <a:p/>
          <a:p>
            <a:r>
              <a:t>الـ Large Language Models — زي ChatGPT و Claude و Gemini — بقت أدوات قوية جداً في توليد النصوص</a:t>
            </a:r>
          </a:p>
          <a:p>
            <a:r>
              <a:t>والإجابة على الأسئلة.</a:t>
            </a:r>
          </a:p>
          <a:p/>
          <a:p>
            <a:r>
              <a:t>لكن عندها limitation أساسي: الـ memory بتاعتها parametric — المعرفة كلها مخزّنة جوّه الـ</a:t>
            </a:r>
          </a:p>
          <a:p>
            <a:r>
              <a:t>weights ومجمّدة عند لحظة التدريب. ولو الداتا اتغيّرت أو كانت داتا خاصة، الـ retraining مكلف جداً.</a:t>
            </a:r>
          </a:p>
          <a:p/>
          <a:p>
            <a:r>
              <a:t>خلّونا نشوف مثال. لو سألنا الموديل: «ما الشروط التي تسمح للطالب بتأجيل دراسته في جامعة الخرطوم؟»</a:t>
            </a:r>
          </a:p>
          <a:p/>
          <a:p>
            <a:r>
              <a:t>لوائح الجامعة ما موجودة في البيانات اللي اتدرّب عليها. ومع ذلك ما بيقول ليك «ما عارف» — بيجاوب.</a:t>
            </a:r>
          </a:p>
          <a:p>
            <a:r>
              <a:t>وشوفوا الإجابة: مادة رقم ١٢، ولائحة سنة ١٩٩٨، ورسوم ٥٠٠ جنيه. كل ده مُختلَق. ما في مادة زي دي</a:t>
            </a:r>
          </a:p>
          <a:p>
            <a:r>
              <a:t>ولا رسوم زي دي. بس الإجابة مكتوبة بثقة وبصياغة سليمة. ودي الـ hallucination.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— RAG and the librarian — 13s</a:t>
            </a:r>
          </a:p>
          <a:p/>
          <a:p>
            <a:r>
              <a:t>عشان كده ظهر الـ RAG: بدل ما نعيد تدريب الموديل، بندّي ليهو knowledge base يفتّش فيها.</a:t>
            </a:r>
          </a:p>
          <a:p/>
          <a:p>
            <a:r>
              <a:t>زي المكتبة بالظبط — أمين المكتبة ما بيجاوب من ذاكرتو، بيمشي يجيب الكتب، والإجابة بتتكتب منها.</a:t>
            </a:r>
          </a:p>
          <a:p/>
          <a:p>
            <a:r>
              <a:t>— DELIVERY —</a:t>
            </a:r>
          </a:p>
          <a:p>
            <a:r>
              <a:t>The slide already shows all four scenes. Do not walk them one by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— Retrieval is the bottleneck — 17s</a:t>
            </a:r>
          </a:p>
          <a:p/>
          <a:p>
            <a:r>
              <a:t>طيب — لو حطّينا لوائح الجامعة جوّه الـ RAG system، الإجابة بقت موجودة في الـ corpus. ومع ذلك</a:t>
            </a:r>
          </a:p>
          <a:p>
            <a:r>
              <a:t>ممكن النظام يرجع بـ passages غلط، فالإجابة تفضل غلط.</a:t>
            </a:r>
          </a:p>
          <a:p/>
          <a:p>
            <a:r>
              <a:t>يعني الـ bottleneck هنا، في الـ Information Retrieval. ودي اللي دفعتنا ندرس الـ techniques</a:t>
            </a:r>
          </a:p>
          <a:p>
            <a:r>
              <a:t>اللي بتحسّنو.</a:t>
            </a:r>
          </a:p>
          <a:p/>
          <a:p>
            <a:r>
              <a:t>— DELIVERY —</a:t>
            </a:r>
          </a:p>
          <a:p>
            <a:r>
              <a:t>The fork diagram *is* the correct-versus-wrong sentence. Do not say it as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— Rich in English, unvalidated in Arabic — 25s</a:t>
            </a:r>
          </a:p>
          <a:p/>
          <a:p>
            <a:r>
              <a:t>فمشينا للـ literature. ولقينا إنو في اللغة الإنجليزية ده مجال غني جداً ومدروس كويس — الـ</a:t>
            </a:r>
          </a:p>
          <a:p>
            <a:r>
              <a:t>Query Enhancement: نصلّح الـ query قبل ما توصل للـ retriever، من غير ما نلمس الـ retriever</a:t>
            </a:r>
          </a:p>
          <a:p>
            <a:r>
              <a:t>ومن غير ما نعيد فهرسة الـ corpus. عائلة كاملة من التقنيات — Query2Doc، HyDE، GRF.</a:t>
            </a:r>
          </a:p>
          <a:p/>
          <a:p>
            <a:r>
              <a:t>طيب — ومشينا نشوف الـ literature العربي. **ولا واحدة من التقنيات دي اتعملت ليها validation</a:t>
            </a:r>
          </a:p>
          <a:p>
            <a:r>
              <a:t>على العربي.** ولا في حد أثبت إنها بتشتغل بموديلات صغيرة كفاية إنو مجموعة زينا تقدر تشغّلها.</a:t>
            </a:r>
          </a:p>
          <a:p/>
          <a:p>
            <a:r>
              <a:t>— DELIVERY —</a:t>
            </a:r>
          </a:p>
          <a:p>
            <a:r>
              <a:t>"Almost nothing" is gone from the slide and the script. It undercut you. The claim is now the</a:t>
            </a:r>
          </a:p>
          <a:p>
            <a:r>
              <a:t>precise one Chapter 2 actually makes — *not one validated for Arabic* — which is stronger *and*</a:t>
            </a:r>
          </a:p>
          <a:p>
            <a:r>
              <a:t>defensible, because the gap you are claiming is a validation gap, not an absence of all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 — But Arabic is not English — 10s</a:t>
            </a:r>
          </a:p>
          <a:p/>
          <a:p>
            <a:r>
              <a:t>والعربي عندو تحدياتو الخاصة: الاشتقاق، والإملاء، والتشكيل، والازدواجية اللغوية.</a:t>
            </a:r>
          </a:p>
          <a:p>
            <a:r>
              <a:t>وزي ما شايفين في الأمثلة، كلها بتكسر المطابقة بين السؤال والدوكيومنت.</a:t>
            </a:r>
          </a:p>
          <a:p>
            <a:r>
              <a:t>Name the four and stop. Do not read كتب / كاتب / مكتوب aloud — the panel are Arabic speakers</a:t>
            </a:r>
          </a:p>
          <a:p>
            <a:r>
              <a:t>and they read the examples faster than you can say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 — Research question — 20s</a:t>
            </a:r>
          </a:p>
          <a:p/>
          <a:p>
            <a:r>
              <a:t>فالـ research question بتاعنا: **إلى أي مدى الـ LLM-based Query Enhancement بتقدر تحسّن الـ</a:t>
            </a:r>
          </a:p>
          <a:p>
            <a:r>
              <a:t>Arabic Information Retrieval — عبر الـ sparse والـ dense والـ hybrid — باستخدام موديلات مفتوحة من</a:t>
            </a:r>
          </a:p>
          <a:p>
            <a:r>
              <a:t>2 لـ 8 مليار باراميتر؟**</a:t>
            </a:r>
          </a:p>
          <a:p/>
          <a:p>
            <a:r>
              <a:t>وأبعد من الـ validation — وده الـ contribution الخاص بينا — دايرين نعرف: **كيف الـ retrievers</a:t>
            </a:r>
          </a:p>
          <a:p>
            <a:r>
              <a:t>المختلفة بتتفاعل مع الـ Query Enhancement؟**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 — Objectives — 18s</a:t>
            </a:r>
          </a:p>
          <a:p/>
          <a:p>
            <a:r>
              <a:t>وعشان نجاوب على السؤال ده حدّدنا تسعة objectives. باختصار شديد: نبني الـ baselines ونحلّل</a:t>
            </a:r>
          </a:p>
          <a:p>
            <a:r>
              <a:t>فشلها، نكيّف الـ Query2Doc للعربي ونقارن عشرة موديلات، ونشوف الـ sparse والـ dense</a:t>
            </a:r>
          </a:p>
          <a:p>
            <a:r>
              <a:t>بيتفاعلوا معاها كيف، ونعالج الـ term dilution، ونبني hybrid baseline، ونطبّق الـ CSQE،</a:t>
            </a:r>
          </a:p>
          <a:p>
            <a:r>
              <a:t>وأخيراً نحدّد المكان الأمثل للـ expansion جوّه الـ pipeline.</a:t>
            </a:r>
          </a:p>
          <a:p/>
          <a:p>
            <a:r>
              <a:t>والتفاصيل قدامكم على الشاشة.</a:t>
            </a:r>
          </a:p>
          <a:p/>
          <a:p>
            <a:r>
              <a:t>— DELIVERY —</a:t>
            </a:r>
          </a:p>
          <a:p>
            <a:r>
              <a:t>One breath, no pauses between items. The nine are printed in full — let them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 — The system we built — 40s</a:t>
            </a:r>
          </a:p>
          <a:p/>
          <a:p>
            <a:r>
              <a:t>وبدينا بأول objective: نبني الـ baseline. ودي المنظومة اللي بنيناها.</a:t>
            </a:r>
          </a:p>
          <a:p/>
          <a:p>
            <a:r>
              <a:t>الـ corpus بتاعنا MIRACL Arabic — 2 مليون passage من ويكيبيديا العربية.</a:t>
            </a:r>
          </a:p>
          <a:p/>
          <a:p>
            <a:r>
              <a:t>والـ retriever — وهنا في نوعين. الـ BM25، وده sparse، بيشتغل بالـ exact term matching.</a:t>
            </a:r>
          </a:p>
          <a:p>
            <a:r>
              <a:t>والـ Dense، وعندنا mDPR، بيحوّل الـ query لـ vector وبيفهم المعنى حتى لو الكلمات مختلفة.</a:t>
            </a:r>
          </a:p>
          <a:p>
            <a:r>
              <a:t>وكل واحد فيهم بيفشل في نوع مختلف من الأسئلة — يعني هم complementary.</a:t>
            </a:r>
          </a:p>
          <a:p/>
          <a:p>
            <a:r>
              <a:t>والقياس بتاعنا NDCG@10.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 — Baseline results — 30s</a:t>
            </a:r>
          </a:p>
          <a:p/>
          <a:p>
            <a:r>
              <a:t>وأول حاجة، أعدنا إنتاج النتائج المنشورة بالظبط — عشان أي تحسّن بعد داك يكون بسببنا إحنا.</a:t>
            </a:r>
          </a:p>
          <a:p>
            <a:r>
              <a:t>الـ mDPR جاب 0.4993، والـ BM25 جاب 0.4621.</a:t>
            </a:r>
          </a:p>
          <a:p/>
          <a:p>
            <a:r>
              <a:t>بعدها عملنا error analysis. لقينا 34% من الكويريز فاشلة تماماً. والأهم: **الكويريز القصيرة</a:t>
            </a:r>
          </a:p>
          <a:p>
            <a:r>
              <a:t>أداءها أضعف بشكل واضح — 0.345. والسبب هو الـ information poverty**.</a:t>
            </a:r>
          </a:p>
          <a:p/>
          <a:p>
            <a:r>
              <a:t>يعني العطل في الـ query ذاتها. وعشان كده اخترنا الـ Query Expansion كـ QE technique بتاعتنا.</a:t>
            </a:r>
          </a:p>
          <a:p/>
          <a:p>
            <a:r>
              <a:t>— DELIVERY —</a:t>
            </a:r>
          </a:p>
          <a:p>
            <a:r>
              <a:t>This is the only place the technique choice is stated. It used to be said here *and* on</a:t>
            </a:r>
          </a:p>
          <a:p>
            <a:r>
              <a:t>slide 12 — the same justification twice, thirty seconds apart.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 — Query2Doc — 25s</a:t>
            </a:r>
          </a:p>
          <a:p/>
          <a:p>
            <a:r>
              <a:t>والفكرة في الـ Query2Doc فيها حاجة ظريفة: كلنا عارفين إنو الـ LLMs بتهلوس — لكن هنا **الهلوسة</a:t>
            </a:r>
          </a:p>
          <a:p>
            <a:r>
              <a:t>مش مشكلة، هي ذاتها الحل**.</a:t>
            </a:r>
          </a:p>
          <a:p/>
          <a:p>
            <a:r>
              <a:t>بنطلب من الموديل يولّد hypothetical document. وده الـ prompt الاستخدمناهو — بسيط جداً،</a:t>
            </a:r>
          </a:p>
          <a:p>
            <a:r>
              <a:t>zero-shot، من غير أي أمثلة.</a:t>
            </a:r>
          </a:p>
          <a:p/>
          <a:p>
            <a:r>
              <a:t>المعلومات في النص ده ممكن تكون غلط تماماً — لكن **الـ vocabulary بتاعو قريب من الدوكيومنتات</a:t>
            </a:r>
          </a:p>
          <a:p>
            <a:r>
              <a:t>الحقيقية**، فبتقرّب المسافة اللغوية بين السؤال والإجابة.</a:t>
            </a:r>
          </a:p>
          <a:p/>
          <a:p>
            <a:r>
              <a:t>— DELIVERY —</a:t>
            </a:r>
          </a:p>
          <a:p>
            <a:r>
              <a:t>Opens on the mechanism, not on the diagnosis. The UofK example is gone from this slide — it was</a:t>
            </a:r>
          </a:p>
          <a:p>
            <a:r>
              <a:t>doing the same job twice and cluttering the layout. The Query2Doc figure and the real system prompt</a:t>
            </a:r>
          </a:p>
          <a:p>
            <a:r>
              <a:t>now carry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 — Dense vs BM25 — 25s</a:t>
            </a:r>
          </a:p>
          <a:p/>
          <a:p>
            <a:r>
              <a:t>وعشان نتأكد إنو التقنية بتعمّم، عملنا comparison بين عشرة موديلات، من 2B لـ 8B، بنفس</a:t>
            </a:r>
          </a:p>
          <a:p>
            <a:r>
              <a:t>البرومبت ونفس الـ pipeline.</a:t>
            </a:r>
          </a:p>
          <a:p/>
          <a:p>
            <a:r>
              <a:t>على الـ Dense، الموديلات التسعة كلها اتحسّنت — أحسنها Aya Expanse بـ +23.5%.</a:t>
            </a:r>
          </a:p>
          <a:p>
            <a:r>
              <a:t>لكن على الـ BM25، ستة من تسعة بقى أداءها أسوأ من الـ baseline ذاتو.</a:t>
            </a:r>
          </a:p>
          <a:p/>
          <a:p>
            <a:r>
              <a:t>نفس التقنية، نفس النص المولّد — ونتيجتين في اتجاهين متعاكسين.</a:t>
            </a:r>
          </a:p>
          <a:p>
            <a:r>
              <a:t>Cut «زي ما شايفين على اليسار» and «على اليمين». They can see. Say the finding, not the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 — Query repetition — 23s</a:t>
            </a:r>
          </a:p>
          <a:p/>
          <a:p>
            <a:r>
              <a:t>ولما فتّشنا في السبب لقيناهو الـ term dilution: لما تضيف تمانين كلمة مولّدة على سؤال من أربع</a:t>
            </a:r>
          </a:p>
          <a:p>
            <a:r>
              <a:t>كلمات، الكلمات الأصلية وزنها بيضيع.</a:t>
            </a:r>
          </a:p>
          <a:p/>
          <a:p>
            <a:r>
              <a:t>فمعالجتنا كانت الـ query repetition — نكرّر الكويري الأصلية جوّه الكويري الموسّعة. وعملنا</a:t>
            </a:r>
          </a:p>
          <a:p>
            <a:r>
              <a:t>sweep على معامل التكرار لكل موديل، والـ optimum طلع بيختلف من موديل لموديل.</a:t>
            </a:r>
          </a:p>
          <a:p/>
          <a:p>
            <a:r>
              <a:t>والنتيجة: كل الموديلات التسعة بقت فوق الـ baseline، وأحسن نتيجة Aya بـ 0.5855.</a:t>
            </a:r>
          </a:p>
          <a:p/>
          <a:p>
            <a:r>
              <a:t>— DELIVERY —</a:t>
            </a:r>
          </a:p>
          <a:p>
            <a:r>
              <a:t>The adaptive-versus-fixed detail and the β=2 / n=5–10 numbers are Q&amp;A material. They are on</a:t>
            </a:r>
          </a:p>
          <a:p>
            <a:r>
              <a:t>your sheet, not in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15 — Where expansion breaks — 50s</a:t>
            </a:r>
          </a:p>
          <a:p/>
          <a:p>
            <a:r>
              <a:t>شكراً محمد. طيب عشان نشوف الـ expansion بيفشل وين، خدوا معاي المثال ده:</a:t>
            </a:r>
          </a:p>
          <a:p>
            <a:r>
              <a:t>«ما هي الأسماء الخمسة في اللغة العربية؟» — دي قاعدة نحوية مشهورة، والإجابة أب، أخ، حم، فو، ذو.</a:t>
            </a:r>
          </a:p>
          <a:p/>
          <a:p>
            <a:r>
              <a:t>والـ BM25 العادي، بالكويري الأصلية، لقى المقال الصح في المرتبة الأولى — بنتيجة 1.000.</a:t>
            </a:r>
          </a:p>
          <a:p/>
          <a:p>
            <a:r>
              <a:t>لكن لما ودّينا للموديل يعمل expansion، قال ليك بثقة: «فئة خاصة من الأسماء الأكثر شيوعاً:</a:t>
            </a:r>
          </a:p>
          <a:p>
            <a:r>
              <a:t>محمد، آدم، إبراهيم، إسماعيل» — أسماء أشخاص!</a:t>
            </a:r>
          </a:p>
          <a:p/>
          <a:p>
            <a:r>
              <a:t>فالأسماء المهلوسة دي اشتغلت كـ noise — ودّت البحث في اتجاه غلط تماماً. والمقال الصح ما فيهو ولا</a:t>
            </a:r>
          </a:p>
          <a:p>
            <a:r>
              <a:t>واحدة من الكلمات دي. النتيجة نزلت من 1.000 لـ 0.000.</a:t>
            </a:r>
          </a:p>
          <a:p/>
          <a:p>
            <a:r>
              <a:t>ودي وصّلتنا للفكرة المفتاحية: الـ expansion ما المفروض تعتمد على ذاكرة الموديل — لازم تكون</a:t>
            </a:r>
          </a:p>
          <a:p>
            <a:r>
              <a:t>grounded في الـ corpus ذاتو.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16 — CSQE — 45s</a:t>
            </a:r>
          </a:p>
          <a:p/>
          <a:p>
            <a:r>
              <a:t>ودي فكرة الـ CSQE — Corpus-Steered Query Expansion: **بدل ما الموديل يعتمد على ذاكرته، يجاوب</a:t>
            </a:r>
          </a:p>
          <a:p>
            <a:r>
              <a:t>من الـ corpus**.</a:t>
            </a:r>
          </a:p>
          <a:p/>
          <a:p>
            <a:r>
              <a:t>فبنبني الكويري النهائية من تلاتة components:</a:t>
            </a:r>
          </a:p>
          <a:p>
            <a:r>
              <a:t>أولاً — BM25 first pass بالكويري الأصلية، بنجيب top-5 documents، وبنقول للموديل: استخرج</a:t>
            </a:r>
          </a:p>
          <a:p>
            <a:r>
              <a:t>الجمل المفتاحية من الدوكيومنتات دي. معلومات موجودة فعلاً في الـ corpus، مش هلوسة.</a:t>
            </a:r>
          </a:p>
          <a:p>
            <a:r>
              <a:t>ثانياً — بنضيف اتنين blind expansions للـ vocabulary enrichment.</a:t>
            </a:r>
          </a:p>
          <a:p>
            <a:r>
              <a:t>وثالثاً — بنكرّر الكويري الأصلية أربع مرات.</a:t>
            </a:r>
          </a:p>
          <a:p/>
          <a:p>
            <a:r>
              <a:t>ونرجع لسؤالنا: الـ first pass رجّع المقال الصح، وفيهو أب، أخ، حم، فو، ذو. فالـ expansion هسي</a:t>
            </a:r>
          </a:p>
          <a:p>
            <a:r>
              <a:t>شايلة الكلام الصح — مش لأنو الموديل عرفو، لكن لأنو اتنسخ من دوكيومنت موجود. النتيجة رجعت 1.000.</a:t>
            </a:r>
          </a:p>
          <a:p/>
          <a:p>
            <a:r>
              <a:t>وعلى كل الـ dataset: الـ BM25 مع CSQE قفز من 0.4621 لـ 0.6157.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17 — The contribution — 62s</a:t>
            </a:r>
          </a:p>
          <a:p/>
          <a:p>
            <a:r>
              <a:t>طيب. الـ BM25 والـ Dense بيفشلوا في أسئلة مختلفة — فجرّبنا ندمجهم في نظام hybrid، من غير أي</a:t>
            </a:r>
          </a:p>
          <a:p>
            <a:r>
              <a:t>enhancement. النتيجة 0.6267.</a:t>
            </a:r>
          </a:p>
          <a:p/>
          <a:p>
            <a:r>
              <a:t>وبعدين جينا ندمج الـ CSQE مع الـ hybrid. والسؤال: منو فيهم ياخد الكويري الموسّعة؟ جرّبنا</a:t>
            </a:r>
          </a:p>
          <a:p>
            <a:r>
              <a:t>التلاتة configurations.</a:t>
            </a:r>
          </a:p>
          <a:p/>
          <a:p>
            <a:r>
              <a:t>لو أدّيت الاتنين — 0.6936. لو أدّيت الـ Dense بس — 0.6474. لكن لو أدّيت الـ **BM25</a:t>
            </a:r>
          </a:p>
          <a:p>
            <a:r>
              <a:t>بس، وخلّيت الـ Dense على الكويري الأصلية — 0.7137**.</a:t>
            </a:r>
          </a:p>
          <a:p/>
          <a:p>
            <a:r>
              <a:t>ودي المعمارية النهائية اللي على اليمين: الكويري الموسّعة بتمشي للـ BM25، والكويري الأصلية بتمشي</a:t>
            </a:r>
          </a:p>
          <a:p>
            <a:r>
              <a:t>للـ mDPR، والاتنين بيتدمجوا بالـ RRF.</a:t>
            </a:r>
          </a:p>
          <a:p/>
          <a:p>
            <a:r>
              <a:t>نفس التقنية، نفس الـ hybrid، نفس الموديل. المتغيّر الوحيد منو استلم الـ expansion.</a:t>
            </a:r>
          </a:p>
          <a:p/>
          <a:p>
            <a:r>
              <a:t>وليه؟ الـ hybrid بيستفيد من الاختلاف بين الطريقتين. لو الاتنين شالوا نفس الكويري، بيتقاربوا —</a:t>
            </a:r>
          </a:p>
          <a:p>
            <a:r>
              <a:t>والـ complementarity اللي دمجنا عشانها بتضيع.</a:t>
            </a:r>
          </a:p>
          <a:p/>
          <a:p>
            <a:r>
              <a:t>فالمبدأ: كل retriever محتاج الـ query representation البتخصو. وحسب مراجعتنا لليتريتشر، الـ</a:t>
            </a:r>
          </a:p>
          <a:p>
            <a:r>
              <a:t>asymmetric assignment ده ما اتدرس قبل كده.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18 — The full journey — 40s</a:t>
            </a:r>
          </a:p>
          <a:p/>
          <a:p>
            <a:r>
              <a:t>دي wrap-up للـ progression بتاع الإكسبيرمنتس، وبتوضّح المنهجية العلمية اللي كنا محافظين</a:t>
            </a:r>
          </a:p>
          <a:p>
            <a:r>
              <a:t>عليها: بنحلّل الـ current system عشان نحدّد الـ weaknesses، ونبتكر ليها حل، ومن ثمّ نقيس</a:t>
            </a:r>
          </a:p>
          <a:p>
            <a:r>
              <a:t>النتيجة، ونرجع تاني من الأول — loop مستمر لحدي ما نصل لأحسن نتيجة ممكنة.</a:t>
            </a:r>
          </a:p>
          <a:p/>
          <a:p>
            <a:r>
              <a:t>بدأنا بالـ baseline، وحلّلنا مشكلة الـ short queries، وعملنا ليها query expansion.</a:t>
            </a:r>
          </a:p>
          <a:p>
            <a:r>
              <a:t>ولما ظهرت مشكلة الـ term dilution، حليناها بالـ query repetition. وواجهتنا مشكلة الـ</a:t>
            </a:r>
          </a:p>
          <a:p>
            <a:r>
              <a:t>hallucination، وحليناها بالـ corpus-steered query expansion.</a:t>
            </a:r>
          </a:p>
          <a:p/>
          <a:p>
            <a:r>
              <a:t>والسيستم النهائي — hybrid بيدمج BM25 بالـ Corpus-Steered Expansion مع **Dense بالكويري</a:t>
            </a:r>
          </a:p>
          <a:p>
            <a:r>
              <a:t>الأصلية — أدّانا 0.7137: أحسن من الـ baseline بـ 54.5%**، وتفوّق على الـ hybrid اللي بدون</a:t>
            </a:r>
          </a:p>
          <a:p>
            <a:r>
              <a:t>query expansion بـ 13.9%.</a:t>
            </a:r>
          </a:p>
          <a:p/>
          <a:p>
            <a:r>
              <a:t>والأهم إنو الـ short queries — اللي كانت أول مشكلة واجهتنا — لقيناها اتحسّنت بـ 43.6%.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19 — All four metrics — 10s</a:t>
            </a:r>
          </a:p>
          <a:p/>
          <a:p>
            <a:r>
              <a:t>وكل الأرقام اللي عرضناها كانت NDCG@10 — لكن قسنا أربع metrics، والسيستم النهائي بتاعنا هو</a:t>
            </a:r>
          </a:p>
          <a:p>
            <a:r>
              <a:t>الأعلى في الأربعة.</a:t>
            </a:r>
          </a:p>
          <a:p/>
          <a:p>
            <a:r>
              <a:t>— DELIVERY —</a:t>
            </a:r>
          </a:p>
          <a:p>
            <a:r>
              <a:t>Say *"highest on all four"* — not *"the trend is consistent everywhere"*. At baseline BM25S</a:t>
            </a:r>
          </a:p>
          <a:p>
            <a:r>
              <a:t>beats mDPR on Recall@100 (0.8577 vs 0.8407), and a clean-ordering claim contradicts that cell.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20 — Conclusions — 35s</a:t>
            </a:r>
          </a:p>
          <a:p/>
          <a:p>
            <a:r>
              <a:t>As a conclusion —</a:t>
            </a:r>
          </a:p>
          <a:p/>
          <a:p>
            <a:r>
              <a:t>*[Then the six, briskly. One breath, no elaboration between them:]*</a:t>
            </a:r>
          </a:p>
          <a:p/>
          <a:p>
            <a:r>
              <a:t>أسّسنا الـ baselines وحلّلناها … قارنّا عشرة موديلات مفتوحة … لقينا الـ **dense والـ sparse</a:t>
            </a:r>
          </a:p>
          <a:p>
            <a:r>
              <a:t>بيتفاعلوا مع الـ QE بصورة مختلفة … الـ query repetition** عالجت الـ degradation في الـ sparse …</a:t>
            </a:r>
          </a:p>
          <a:p>
            <a:r>
              <a:t>الـ corpus grounding اتأكّد … والـ retriever-specific query representation — ودي الأهم فيهم.</a:t>
            </a:r>
          </a:p>
          <a:p/>
          <a:p>
            <a:r>
              <a:t>ودي مساهمتنا: إحنا شغّالين في موضوع حيّ جداً هسي — الـ RAG هو الطريقة اللي بتُبنى بيها أنظمة</a:t>
            </a:r>
          </a:p>
          <a:p>
            <a:r>
              <a:t>الـ LLM دلوقتي، والعربي مهمَّش فيهو. فقدّمنا أول validation منهجي للـ LLM-based query</a:t>
            </a:r>
          </a:p>
          <a:p>
            <a:r>
              <a:t>enhancement في الـ Arabic IR، بعشرة موديلات مفتوحة، على hardware مجاني — يعني قابل للتكرار من</a:t>
            </a:r>
          </a:p>
          <a:p>
            <a:r>
              <a:t>أي مجموعة بحثية عربية.</a:t>
            </a:r>
          </a:p>
          <a:p/>
          <a:p>
            <a:r>
              <a:t>وأهم finding عندنا — الـ asymmetric placement — إحنا قاعدين نكتب فيهو ورقة علمية هسي.</a:t>
            </a:r>
          </a:p>
          <a:p/>
          <a:p>
            <a:r>
              <a:t>— DELIVERY —</a:t>
            </a:r>
          </a:p>
          <a:p>
            <a:r>
              <a:t>The "not Arabic-specific / term dilution is a BM25 property" passage is cut, as you asked. The</a:t>
            </a:r>
          </a:p>
          <a:p>
            <a:r>
              <a:t>seven conclusions stay printed on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21 — Future work — 20s</a:t>
            </a:r>
          </a:p>
          <a:p/>
          <a:p>
            <a:r>
              <a:t>للمستقبل، داير نغطّي الـ dialectal Arabic، ونعمل first-pass quality gate، ونجرّب</a:t>
            </a:r>
          </a:p>
          <a:p>
            <a:r>
              <a:t>embedding models أقوى.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22 — Thanks — 10s</a:t>
            </a:r>
          </a:p>
          <a:p/>
          <a:p>
            <a:r>
              <a:t>شكراً جزيلاً لحسن استماعكم — وجاهزين لأسئلتكم.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_tit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_agend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_ll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_ra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_bottlene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_literat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_arab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_rq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_objectiv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_syste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_baseli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_query2do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_densevsbm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_repeti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_fivenou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_csq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_placem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_journe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_metri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0_conclusio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1_futurewo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2_thank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